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70" r:id="rId14"/>
    <p:sldId id="271" r:id="rId15"/>
    <p:sldId id="267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498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232" y="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qwen3.6-35b-a3b (ours)</c:v>
                </c:pt>
              </c:strCache>
            </c:strRef>
          </c:tx>
          <c:spPr>
            <a:solidFill>
              <a:srgbClr val="EF7D00"/>
            </a:solidFill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A1</c:v>
                </c:pt>
                <c:pt idx="1">
                  <c:v>A2</c:v>
                </c:pt>
                <c:pt idx="2">
                  <c:v>B1</c:v>
                </c:pt>
                <c:pt idx="3">
                  <c:v>B2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79.599999999999994</c:v>
                </c:pt>
                <c:pt idx="1">
                  <c:v>90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1D-8B4D-848B-F09193C8EF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gemma4-31b-it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A1</c:v>
                </c:pt>
                <c:pt idx="1">
                  <c:v>A2</c:v>
                </c:pt>
                <c:pt idx="2">
                  <c:v>B1</c:v>
                </c:pt>
                <c:pt idx="3">
                  <c:v>B2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84.4</c:v>
                </c:pt>
                <c:pt idx="1">
                  <c:v>92.8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1D-8B4D-848B-F09193C8EF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Claude Sonnet 5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A1</c:v>
                </c:pt>
                <c:pt idx="1">
                  <c:v>A2</c:v>
                </c:pt>
                <c:pt idx="2">
                  <c:v>B1</c:v>
                </c:pt>
                <c:pt idx="3">
                  <c:v>B2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88.5</c:v>
                </c:pt>
                <c:pt idx="1">
                  <c:v>96.2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F1D-8B4D-848B-F09193C8EF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-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9525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5106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211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4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0.png"/><Relationship Id="rId10" Type="http://schemas.openxmlformats.org/officeDocument/2006/relationships/image" Target="../media/image44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hyperlink" Target="http://localhost:5173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02336"/>
            <a:ext cx="1737360" cy="464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965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LAB  ·  SUMMER SEMESTER 2026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359152"/>
            <a:ext cx="822960" cy="0"/>
          </a:xfrm>
          <a:prstGeom prst="line">
            <a:avLst/>
          </a:prstGeom>
          <a:noFill/>
          <a:ln w="31750">
            <a:solidFill>
              <a:srgbClr val="EF7D0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640080" y="2487168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Assistant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640080" y="34564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F7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Deutsche Sprache</a:t>
            </a:r>
            <a:endParaRPr lang="en-US" sz="5000" dirty="0"/>
          </a:p>
        </p:txBody>
      </p:sp>
      <p:sp>
        <p:nvSpPr>
          <p:cNvPr id="13" name="Text 10"/>
          <p:cNvSpPr/>
          <p:nvPr/>
        </p:nvSpPr>
        <p:spPr>
          <a:xfrm>
            <a:off x="640080" y="45262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tutor for real German practice.</a:t>
            </a:r>
            <a:endParaRPr lang="en-US" sz="15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276088"/>
            <a:ext cx="829905" cy="8299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54716" y="543327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 </a:t>
            </a: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Akbar</a:t>
            </a: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&amp;   </a:t>
            </a: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Khalid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0180015" y="6291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02336"/>
            <a:ext cx="1737360" cy="464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74980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40080" y="1828800"/>
            <a:ext cx="527288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9"/>
          <p:cNvSpPr/>
          <p:nvPr/>
        </p:nvSpPr>
        <p:spPr>
          <a:xfrm>
            <a:off x="841248" y="2048256"/>
            <a:ext cx="402336" cy="402336"/>
          </a:xfrm>
          <a:prstGeom prst="ellipse">
            <a:avLst/>
          </a:prstGeom>
          <a:solidFill>
            <a:srgbClr val="EF7D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841248" y="2048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426464" y="2039112"/>
            <a:ext cx="420624" cy="420624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414" y="2140062"/>
            <a:ext cx="218724" cy="2187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48256" y="1828800"/>
            <a:ext cx="3626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278728" y="1828800"/>
            <a:ext cx="527288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4"/>
          <p:cNvSpPr/>
          <p:nvPr/>
        </p:nvSpPr>
        <p:spPr>
          <a:xfrm>
            <a:off x="6479896" y="2048256"/>
            <a:ext cx="402336" cy="402336"/>
          </a:xfrm>
          <a:prstGeom prst="ellipse">
            <a:avLst/>
          </a:prstGeom>
          <a:solidFill>
            <a:srgbClr val="EF7D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5"/>
          <p:cNvSpPr/>
          <p:nvPr/>
        </p:nvSpPr>
        <p:spPr>
          <a:xfrm>
            <a:off x="6479896" y="2048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7065112" y="2039112"/>
            <a:ext cx="420624" cy="420624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061" y="2140062"/>
            <a:ext cx="218724" cy="2187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686904" y="1828800"/>
            <a:ext cx="3626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40080" y="2926080"/>
            <a:ext cx="527288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4" name="Shape 19"/>
          <p:cNvSpPr/>
          <p:nvPr/>
        </p:nvSpPr>
        <p:spPr>
          <a:xfrm>
            <a:off x="841248" y="3145536"/>
            <a:ext cx="402336" cy="402336"/>
          </a:xfrm>
          <a:prstGeom prst="ellipse">
            <a:avLst/>
          </a:prstGeom>
          <a:solidFill>
            <a:srgbClr val="EF7D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Text 20"/>
          <p:cNvSpPr/>
          <p:nvPr/>
        </p:nvSpPr>
        <p:spPr>
          <a:xfrm>
            <a:off x="841248" y="3145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1426464" y="3136392"/>
            <a:ext cx="420624" cy="420624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414" y="3237342"/>
            <a:ext cx="218724" cy="2187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048256" y="2926080"/>
            <a:ext cx="3626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Build Phases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6278728" y="2926080"/>
            <a:ext cx="527288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0" name="Shape 24"/>
          <p:cNvSpPr/>
          <p:nvPr/>
        </p:nvSpPr>
        <p:spPr>
          <a:xfrm>
            <a:off x="6479896" y="3145536"/>
            <a:ext cx="402336" cy="402336"/>
          </a:xfrm>
          <a:prstGeom prst="ellipse">
            <a:avLst/>
          </a:prstGeom>
          <a:solidFill>
            <a:srgbClr val="EF7D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Text 25"/>
          <p:cNvSpPr/>
          <p:nvPr/>
        </p:nvSpPr>
        <p:spPr>
          <a:xfrm>
            <a:off x="6479896" y="3145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7065112" y="3136392"/>
            <a:ext cx="420624" cy="420624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4" name="Text 27"/>
          <p:cNvSpPr/>
          <p:nvPr/>
        </p:nvSpPr>
        <p:spPr>
          <a:xfrm>
            <a:off x="7686904" y="2926080"/>
            <a:ext cx="3626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640080" y="4023360"/>
            <a:ext cx="527288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6" name="Shape 29"/>
          <p:cNvSpPr/>
          <p:nvPr/>
        </p:nvSpPr>
        <p:spPr>
          <a:xfrm>
            <a:off x="841248" y="4242816"/>
            <a:ext cx="402336" cy="402336"/>
          </a:xfrm>
          <a:prstGeom prst="ellipse">
            <a:avLst/>
          </a:prstGeom>
          <a:solidFill>
            <a:srgbClr val="EF7D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7" name="Text 30"/>
          <p:cNvSpPr/>
          <p:nvPr/>
        </p:nvSpPr>
        <p:spPr>
          <a:xfrm>
            <a:off x="841248" y="4242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1426464" y="4233672"/>
            <a:ext cx="420624" cy="420624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1324" y="3237342"/>
            <a:ext cx="218724" cy="21872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2048256" y="4023360"/>
            <a:ext cx="3626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400" dirty="0"/>
          </a:p>
        </p:txBody>
      </p:sp>
      <p:sp>
        <p:nvSpPr>
          <p:cNvPr id="41" name="Shape 33"/>
          <p:cNvSpPr/>
          <p:nvPr/>
        </p:nvSpPr>
        <p:spPr>
          <a:xfrm>
            <a:off x="6278728" y="4023360"/>
            <a:ext cx="527288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2" name="Shape 34"/>
          <p:cNvSpPr/>
          <p:nvPr/>
        </p:nvSpPr>
        <p:spPr>
          <a:xfrm>
            <a:off x="6479896" y="4242816"/>
            <a:ext cx="402336" cy="402336"/>
          </a:xfrm>
          <a:prstGeom prst="ellipse">
            <a:avLst/>
          </a:prstGeom>
          <a:solidFill>
            <a:srgbClr val="EF7D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3" name="Text 35"/>
          <p:cNvSpPr/>
          <p:nvPr/>
        </p:nvSpPr>
        <p:spPr>
          <a:xfrm>
            <a:off x="6479896" y="4242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Shape 36"/>
          <p:cNvSpPr/>
          <p:nvPr/>
        </p:nvSpPr>
        <p:spPr>
          <a:xfrm>
            <a:off x="7065112" y="4233672"/>
            <a:ext cx="420624" cy="420624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3483" y="4334622"/>
            <a:ext cx="218724" cy="21872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686904" y="4023360"/>
            <a:ext cx="3626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Learning</a:t>
            </a:r>
            <a:endParaRPr lang="en-US" sz="1400" dirty="0"/>
          </a:p>
        </p:txBody>
      </p:sp>
      <p:sp>
        <p:nvSpPr>
          <p:cNvPr id="47" name="Shape 38"/>
          <p:cNvSpPr/>
          <p:nvPr/>
        </p:nvSpPr>
        <p:spPr>
          <a:xfrm>
            <a:off x="640080" y="5120640"/>
            <a:ext cx="527288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8" name="Shape 39"/>
          <p:cNvSpPr/>
          <p:nvPr/>
        </p:nvSpPr>
        <p:spPr>
          <a:xfrm>
            <a:off x="841248" y="5340096"/>
            <a:ext cx="402336" cy="402336"/>
          </a:xfrm>
          <a:prstGeom prst="ellipse">
            <a:avLst/>
          </a:prstGeom>
          <a:solidFill>
            <a:srgbClr val="EF7D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9" name="Text 40"/>
          <p:cNvSpPr/>
          <p:nvPr/>
        </p:nvSpPr>
        <p:spPr>
          <a:xfrm>
            <a:off x="841248" y="5340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50" name="Shape 41"/>
          <p:cNvSpPr/>
          <p:nvPr/>
        </p:nvSpPr>
        <p:spPr>
          <a:xfrm>
            <a:off x="1426464" y="5330952"/>
            <a:ext cx="420624" cy="420624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5971" y="4321032"/>
            <a:ext cx="218724" cy="218724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2048256" y="5120640"/>
            <a:ext cx="3626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cs typeface="Calibri" pitchFamily="34" charset="-120"/>
              </a:rPr>
              <a:t>Team Contribution</a:t>
            </a:r>
            <a:endParaRPr lang="en-US" sz="1400" dirty="0"/>
          </a:p>
        </p:txBody>
      </p:sp>
      <p:sp>
        <p:nvSpPr>
          <p:cNvPr id="53" name="Shape 43"/>
          <p:cNvSpPr/>
          <p:nvPr/>
        </p:nvSpPr>
        <p:spPr>
          <a:xfrm>
            <a:off x="6278728" y="5120640"/>
            <a:ext cx="527288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4" name="Shape 44"/>
          <p:cNvSpPr/>
          <p:nvPr/>
        </p:nvSpPr>
        <p:spPr>
          <a:xfrm>
            <a:off x="6479896" y="5340096"/>
            <a:ext cx="402336" cy="402336"/>
          </a:xfrm>
          <a:prstGeom prst="ellipse">
            <a:avLst/>
          </a:prstGeom>
          <a:solidFill>
            <a:srgbClr val="EF7D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5" name="Text 45"/>
          <p:cNvSpPr/>
          <p:nvPr/>
        </p:nvSpPr>
        <p:spPr>
          <a:xfrm>
            <a:off x="6479896" y="5340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56" name="Shape 46"/>
          <p:cNvSpPr/>
          <p:nvPr/>
        </p:nvSpPr>
        <p:spPr>
          <a:xfrm>
            <a:off x="7065112" y="5330952"/>
            <a:ext cx="420624" cy="420624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5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5702" y="5431902"/>
            <a:ext cx="218724" cy="218724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7686904" y="5120640"/>
            <a:ext cx="3626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59" name="Text 48"/>
          <p:cNvSpPr/>
          <p:nvPr/>
        </p:nvSpPr>
        <p:spPr>
          <a:xfrm>
            <a:off x="10180015" y="6291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17</a:t>
            </a:r>
            <a:endParaRPr lang="en-US" sz="1100" dirty="0"/>
          </a:p>
        </p:txBody>
      </p:sp>
      <p:pic>
        <p:nvPicPr>
          <p:cNvPr id="60" name="Image 4" descr="preencoded.png">
            <a:extLst>
              <a:ext uri="{FF2B5EF4-FFF2-40B4-BE49-F238E27FC236}">
                <a16:creationId xmlns:a16="http://schemas.microsoft.com/office/drawing/2014/main" id="{14FCA001-C776-9DB8-9C4D-94BC29D0BAD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5971" y="5431902"/>
            <a:ext cx="218724" cy="2187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02336"/>
            <a:ext cx="1737360" cy="464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74980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German Practice Falls Short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40080" y="1828800"/>
            <a:ext cx="5272888" cy="138988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 dirty="0"/>
          </a:p>
        </p:txBody>
      </p:sp>
      <p:sp>
        <p:nvSpPr>
          <p:cNvPr id="12" name="Shape 9"/>
          <p:cNvSpPr/>
          <p:nvPr/>
        </p:nvSpPr>
        <p:spPr>
          <a:xfrm>
            <a:off x="859536" y="2048256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16712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9536" y="2606040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tutors cost too much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59536" y="288036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lessons are expensive.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78728" y="1828800"/>
            <a:ext cx="5272887" cy="138988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3"/>
          <p:cNvSpPr/>
          <p:nvPr/>
        </p:nvSpPr>
        <p:spPr>
          <a:xfrm>
            <a:off x="6498184" y="2048256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056" y="216712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8184" y="2606040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drill words, not talk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98184" y="288036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 skip real conversation.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3383280"/>
            <a:ext cx="5272888" cy="138988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Shape 17"/>
          <p:cNvSpPr/>
          <p:nvPr/>
        </p:nvSpPr>
        <p:spPr>
          <a:xfrm>
            <a:off x="859536" y="3602736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372160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59536" y="4160520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instant speech feedback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859536" y="443484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can't hear their mistakes.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278728" y="3383280"/>
            <a:ext cx="5272887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7" name="Shape 21"/>
          <p:cNvSpPr/>
          <p:nvPr/>
        </p:nvSpPr>
        <p:spPr>
          <a:xfrm>
            <a:off x="6498184" y="3602736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056" y="3721608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498184" y="4160520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up feels intimidating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6498184" y="443484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feel public, not safe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10180015" y="6291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02336"/>
            <a:ext cx="1737360" cy="464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74980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Modern AI Tools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40080" y="1828800"/>
            <a:ext cx="2522144" cy="3566160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9"/>
          <p:cNvSpPr/>
          <p:nvPr/>
        </p:nvSpPr>
        <p:spPr>
          <a:xfrm>
            <a:off x="1672552" y="2084832"/>
            <a:ext cx="457200" cy="457200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280" y="2194560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" y="2651760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22960" y="3108960"/>
            <a:ext cx="2156384" cy="45720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2"/>
          <p:cNvSpPr/>
          <p:nvPr/>
        </p:nvSpPr>
        <p:spPr>
          <a:xfrm>
            <a:off x="822960" y="310896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22960" y="3675888"/>
            <a:ext cx="2156384" cy="45720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4"/>
          <p:cNvSpPr/>
          <p:nvPr/>
        </p:nvSpPr>
        <p:spPr>
          <a:xfrm>
            <a:off x="822960" y="3675888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22960" y="4242816"/>
            <a:ext cx="2156384" cy="45720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6"/>
          <p:cNvSpPr/>
          <p:nvPr/>
        </p:nvSpPr>
        <p:spPr>
          <a:xfrm>
            <a:off x="822960" y="4242816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22960" y="4809744"/>
            <a:ext cx="2156384" cy="45720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18"/>
          <p:cNvSpPr/>
          <p:nvPr/>
        </p:nvSpPr>
        <p:spPr>
          <a:xfrm>
            <a:off x="822960" y="4809744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436544" y="1828800"/>
            <a:ext cx="2522144" cy="3566160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4" name="Shape 20"/>
          <p:cNvSpPr/>
          <p:nvPr/>
        </p:nvSpPr>
        <p:spPr>
          <a:xfrm>
            <a:off x="4469016" y="2084832"/>
            <a:ext cx="457200" cy="457200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744" y="2194560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436544" y="2651760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3619424" y="3108960"/>
            <a:ext cx="2156384" cy="45720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Text 23"/>
          <p:cNvSpPr/>
          <p:nvPr/>
        </p:nvSpPr>
        <p:spPr>
          <a:xfrm>
            <a:off x="3619424" y="310896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619424" y="3675888"/>
            <a:ext cx="2156384" cy="45720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5"/>
          <p:cNvSpPr/>
          <p:nvPr/>
        </p:nvSpPr>
        <p:spPr>
          <a:xfrm>
            <a:off x="3619424" y="3675888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3619424" y="4242816"/>
            <a:ext cx="2156384" cy="45720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Text 27"/>
          <p:cNvSpPr/>
          <p:nvPr/>
        </p:nvSpPr>
        <p:spPr>
          <a:xfrm>
            <a:off x="3619424" y="4242816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3619424" y="4809744"/>
            <a:ext cx="2156384" cy="45720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Text 29"/>
          <p:cNvSpPr/>
          <p:nvPr/>
        </p:nvSpPr>
        <p:spPr>
          <a:xfrm>
            <a:off x="3619424" y="4809744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6233008" y="1828800"/>
            <a:ext cx="2522144" cy="3566160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6" name="Shape 31"/>
          <p:cNvSpPr/>
          <p:nvPr/>
        </p:nvSpPr>
        <p:spPr>
          <a:xfrm>
            <a:off x="7265480" y="2084832"/>
            <a:ext cx="457200" cy="457200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5207" y="2194560"/>
            <a:ext cx="237744" cy="23774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233008" y="2651760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6415888" y="3108960"/>
            <a:ext cx="2156384" cy="45720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0" name="Text 34"/>
          <p:cNvSpPr/>
          <p:nvPr/>
        </p:nvSpPr>
        <p:spPr>
          <a:xfrm>
            <a:off x="6415888" y="310896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gemma4-31b-it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6415888" y="3675888"/>
            <a:ext cx="2156384" cy="45720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2" name="Text 36"/>
          <p:cNvSpPr/>
          <p:nvPr/>
        </p:nvSpPr>
        <p:spPr>
          <a:xfrm>
            <a:off x="6415888" y="3675888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Qwen3.6-35b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6415888" y="4242816"/>
            <a:ext cx="2156384" cy="45720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4" name="Text 38"/>
          <p:cNvSpPr/>
          <p:nvPr/>
        </p:nvSpPr>
        <p:spPr>
          <a:xfrm>
            <a:off x="6415888" y="4242816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Nova-3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6415888" y="4809744"/>
            <a:ext cx="2156384" cy="45720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6" name="Text 40"/>
          <p:cNvSpPr/>
          <p:nvPr/>
        </p:nvSpPr>
        <p:spPr>
          <a:xfrm>
            <a:off x="6415888" y="4809744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 Sonic-3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9029471" y="1828800"/>
            <a:ext cx="2522144" cy="3566160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8" name="Shape 42"/>
          <p:cNvSpPr/>
          <p:nvPr/>
        </p:nvSpPr>
        <p:spPr>
          <a:xfrm>
            <a:off x="10061943" y="2084832"/>
            <a:ext cx="457200" cy="457200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1671" y="2194560"/>
            <a:ext cx="237744" cy="237744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9029471" y="2651760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400" dirty="0"/>
          </a:p>
        </p:txBody>
      </p:sp>
      <p:sp>
        <p:nvSpPr>
          <p:cNvPr id="51" name="Shape 44"/>
          <p:cNvSpPr/>
          <p:nvPr/>
        </p:nvSpPr>
        <p:spPr>
          <a:xfrm>
            <a:off x="9212351" y="3108960"/>
            <a:ext cx="2156384" cy="45720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2" name="Text 45"/>
          <p:cNvSpPr/>
          <p:nvPr/>
        </p:nvSpPr>
        <p:spPr>
          <a:xfrm>
            <a:off x="9212351" y="310896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WebRTC</a:t>
            </a:r>
            <a:endParaRPr lang="en-US" sz="1050" dirty="0"/>
          </a:p>
        </p:txBody>
      </p:sp>
      <p:sp>
        <p:nvSpPr>
          <p:cNvPr id="59" name="Text 52"/>
          <p:cNvSpPr/>
          <p:nvPr/>
        </p:nvSpPr>
        <p:spPr>
          <a:xfrm>
            <a:off x="10180015" y="6291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02336"/>
            <a:ext cx="1737360" cy="464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74980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All Connects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40080" y="16002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" y="187452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713232" y="1920240"/>
            <a:ext cx="10765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3232" y="2185416"/>
            <a:ext cx="107652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Voice · Feedback UI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40080" y="2478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552" y="2478024"/>
            <a:ext cx="164592" cy="16459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40080" y="2807208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Text 14"/>
          <p:cNvSpPr/>
          <p:nvPr/>
        </p:nvSpPr>
        <p:spPr>
          <a:xfrm>
            <a:off x="713232" y="2852928"/>
            <a:ext cx="10765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118104"/>
            <a:ext cx="107652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Chat · History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40080" y="34107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552" y="3410712"/>
            <a:ext cx="164592" cy="16459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40080" y="3739896"/>
            <a:ext cx="3454298" cy="530352"/>
          </a:xfrm>
          <a:prstGeom prst="roundRect">
            <a:avLst>
              <a:gd name="adj" fmla="val 13793"/>
            </a:avLst>
          </a:prstGeom>
          <a:solidFill>
            <a:srgbClr val="FFF3E6"/>
          </a:solidFill>
          <a:ln w="15875">
            <a:solidFill>
              <a:srgbClr val="EF7D00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Text 18"/>
          <p:cNvSpPr/>
          <p:nvPr/>
        </p:nvSpPr>
        <p:spPr>
          <a:xfrm>
            <a:off x="713232" y="3739896"/>
            <a:ext cx="33079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Service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368698" y="3739896"/>
            <a:ext cx="3454298" cy="530352"/>
          </a:xfrm>
          <a:prstGeom prst="roundRect">
            <a:avLst>
              <a:gd name="adj" fmla="val 13793"/>
            </a:avLst>
          </a:prstGeom>
          <a:solidFill>
            <a:srgbClr val="FFF3E6"/>
          </a:solidFill>
          <a:ln w="15875">
            <a:solidFill>
              <a:srgbClr val="EF7D00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5" name="Text 20"/>
          <p:cNvSpPr/>
          <p:nvPr/>
        </p:nvSpPr>
        <p:spPr>
          <a:xfrm>
            <a:off x="4441850" y="3739896"/>
            <a:ext cx="33079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Service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097317" y="3739896"/>
            <a:ext cx="3454298" cy="530352"/>
          </a:xfrm>
          <a:prstGeom prst="roundRect">
            <a:avLst>
              <a:gd name="adj" fmla="val 13793"/>
            </a:avLst>
          </a:prstGeom>
          <a:solidFill>
            <a:srgbClr val="FFF3E6"/>
          </a:solidFill>
          <a:ln w="15875">
            <a:solidFill>
              <a:srgbClr val="EF7D00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7" name="Text 22"/>
          <p:cNvSpPr/>
          <p:nvPr/>
        </p:nvSpPr>
        <p:spPr>
          <a:xfrm>
            <a:off x="8170469" y="3739896"/>
            <a:ext cx="33079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40080" y="43251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</a:t>
            </a:r>
            <a:endParaRPr lang="en-US" sz="9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552" y="4325112"/>
            <a:ext cx="164592" cy="16459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40080" y="4654296"/>
            <a:ext cx="2522144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1" name="Text 25"/>
          <p:cNvSpPr/>
          <p:nvPr/>
        </p:nvSpPr>
        <p:spPr>
          <a:xfrm>
            <a:off x="713232" y="4700016"/>
            <a:ext cx="237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gemma4-31b-it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13232" y="4965192"/>
            <a:ext cx="237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For Comparison Testing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3436544" y="4654296"/>
            <a:ext cx="2522144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4" name="Text 28"/>
          <p:cNvSpPr/>
          <p:nvPr/>
        </p:nvSpPr>
        <p:spPr>
          <a:xfrm>
            <a:off x="3509696" y="4700016"/>
            <a:ext cx="237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Qwen3.6-35b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3509696" y="4965192"/>
            <a:ext cx="237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LLM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6233008" y="4654296"/>
            <a:ext cx="2522144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7" name="Text 31"/>
          <p:cNvSpPr/>
          <p:nvPr/>
        </p:nvSpPr>
        <p:spPr>
          <a:xfrm>
            <a:off x="6306160" y="4700016"/>
            <a:ext cx="237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/ Cartesia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6306160" y="4965192"/>
            <a:ext cx="237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· TTS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9029471" y="4654296"/>
            <a:ext cx="2522144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0" name="Text 34"/>
          <p:cNvSpPr/>
          <p:nvPr/>
        </p:nvSpPr>
        <p:spPr>
          <a:xfrm>
            <a:off x="9102623" y="4700016"/>
            <a:ext cx="237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9102623" y="4965192"/>
            <a:ext cx="237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history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10180015" y="6291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02336"/>
            <a:ext cx="1737360" cy="464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74980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Preparation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40080" y="1828800"/>
            <a:ext cx="527288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9"/>
          <p:cNvSpPr/>
          <p:nvPr/>
        </p:nvSpPr>
        <p:spPr>
          <a:xfrm>
            <a:off x="841248" y="2208276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65" y="2322393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17904" y="1828800"/>
            <a:ext cx="415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best open-source German word datasets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278728" y="1828800"/>
            <a:ext cx="527288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2"/>
          <p:cNvSpPr/>
          <p:nvPr/>
        </p:nvSpPr>
        <p:spPr>
          <a:xfrm>
            <a:off x="6479896" y="2208276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013" y="2322393"/>
            <a:ext cx="247254" cy="247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56552" y="1828800"/>
            <a:ext cx="415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words across all CEFR levels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40080" y="3383280"/>
            <a:ext cx="527288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5"/>
          <p:cNvSpPr/>
          <p:nvPr/>
        </p:nvSpPr>
        <p:spPr>
          <a:xfrm>
            <a:off x="841248" y="3762756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65" y="3876873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17904" y="3383280"/>
            <a:ext cx="415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pre-processing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278728" y="3383280"/>
            <a:ext cx="527288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4" name="Shape 18"/>
          <p:cNvSpPr/>
          <p:nvPr/>
        </p:nvSpPr>
        <p:spPr>
          <a:xfrm>
            <a:off x="6479896" y="3762756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4013" y="3876873"/>
            <a:ext cx="247254" cy="24725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56552" y="3383280"/>
            <a:ext cx="415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clean JSON with CEFR categorization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0180015" y="6291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02336"/>
            <a:ext cx="1737360" cy="464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74980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 LLM Integration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40080" y="1828800"/>
            <a:ext cx="5577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9"/>
          <p:cNvSpPr/>
          <p:nvPr/>
        </p:nvSpPr>
        <p:spPr>
          <a:xfrm>
            <a:off x="841248" y="2116836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65" y="2230953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17904" y="1828800"/>
            <a:ext cx="4462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Qwen3.6-35b model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40080" y="3172968"/>
            <a:ext cx="5577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2"/>
          <p:cNvSpPr/>
          <p:nvPr/>
        </p:nvSpPr>
        <p:spPr>
          <a:xfrm>
            <a:off x="841248" y="3461004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65" y="3575121"/>
            <a:ext cx="247254" cy="247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17904" y="3172968"/>
            <a:ext cx="4462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CEFR-level selection logic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40080" y="4517136"/>
            <a:ext cx="5577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5"/>
          <p:cNvSpPr/>
          <p:nvPr/>
        </p:nvSpPr>
        <p:spPr>
          <a:xfrm>
            <a:off x="841248" y="4805172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65" y="4919289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17904" y="4517136"/>
            <a:ext cx="4462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context-aware vocabulary only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720840" y="1828800"/>
            <a:ext cx="4800600" cy="4069080"/>
          </a:xfrm>
          <a:prstGeom prst="roundRect">
            <a:avLst>
              <a:gd name="adj" fmla="val 2247"/>
            </a:avLst>
          </a:prstGeom>
          <a:solidFill>
            <a:srgbClr val="F7F8FA"/>
          </a:solidFill>
          <a:ln w="12700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18"/>
          <p:cNvSpPr/>
          <p:nvPr/>
        </p:nvSpPr>
        <p:spPr>
          <a:xfrm>
            <a:off x="7086600" y="20848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086600" y="2560320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6" name="Shape 20"/>
          <p:cNvSpPr/>
          <p:nvPr/>
        </p:nvSpPr>
        <p:spPr>
          <a:xfrm>
            <a:off x="7269480" y="2706624"/>
            <a:ext cx="457200" cy="457200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2" y="2825496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863840" y="2560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level selected
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A2 · B1 · B2</a:t>
            </a:r>
            <a:endParaRPr lang="en-US" sz="13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3328416"/>
            <a:ext cx="201168" cy="201168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086600" y="3566160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1" name="Shape 23"/>
          <p:cNvSpPr/>
          <p:nvPr/>
        </p:nvSpPr>
        <p:spPr>
          <a:xfrm>
            <a:off x="7269480" y="3712464"/>
            <a:ext cx="457200" cy="457200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3831336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863840" y="356616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Qwen3.6-35b
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level-aware prompt</a:t>
            </a:r>
            <a:endParaRPr lang="en-US" sz="13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4334256"/>
            <a:ext cx="201168" cy="201168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7086600" y="4572000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6" name="Shape 26"/>
          <p:cNvSpPr/>
          <p:nvPr/>
        </p:nvSpPr>
        <p:spPr>
          <a:xfrm>
            <a:off x="7269480" y="4718304"/>
            <a:ext cx="457200" cy="457200"/>
          </a:xfrm>
          <a:prstGeom prst="ellipse">
            <a:avLst/>
          </a:prstGeom>
          <a:solidFill>
            <a:srgbClr val="ECFDF3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8352" y="4837176"/>
            <a:ext cx="219456" cy="219456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863840" y="457200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response
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allowed vocabulary</a:t>
            </a:r>
            <a:endParaRPr lang="en-US" sz="1300" dirty="0"/>
          </a:p>
        </p:txBody>
      </p:sp>
      <p:sp>
        <p:nvSpPr>
          <p:cNvPr id="39" name="Text 28"/>
          <p:cNvSpPr/>
          <p:nvPr/>
        </p:nvSpPr>
        <p:spPr>
          <a:xfrm>
            <a:off x="10180015" y="6291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02336"/>
            <a:ext cx="1737360" cy="464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74980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Interface Feature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40080" y="1828800"/>
            <a:ext cx="507492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9"/>
          <p:cNvSpPr/>
          <p:nvPr/>
        </p:nvSpPr>
        <p:spPr>
          <a:xfrm>
            <a:off x="841248" y="1947672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65" y="2061789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17904" y="1828800"/>
            <a:ext cx="3959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with CEFR level selector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2724912"/>
            <a:ext cx="507492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2"/>
          <p:cNvSpPr/>
          <p:nvPr/>
        </p:nvSpPr>
        <p:spPr>
          <a:xfrm>
            <a:off x="841248" y="2843784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65" y="2957901"/>
            <a:ext cx="247254" cy="247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17904" y="2724912"/>
            <a:ext cx="3959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chat messages to the LLM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3621024"/>
            <a:ext cx="507492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5"/>
          <p:cNvSpPr/>
          <p:nvPr/>
        </p:nvSpPr>
        <p:spPr>
          <a:xfrm>
            <a:off x="841248" y="3739896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65" y="3854013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17904" y="3621024"/>
            <a:ext cx="3959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talking feature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40080" y="4517136"/>
            <a:ext cx="507492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4" name="Shape 18"/>
          <p:cNvSpPr/>
          <p:nvPr/>
        </p:nvSpPr>
        <p:spPr>
          <a:xfrm>
            <a:off x="841248" y="4636008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365" y="4750125"/>
            <a:ext cx="247254" cy="24725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17904" y="4517136"/>
            <a:ext cx="3959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AI pronunciation feedback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640080" y="5413248"/>
            <a:ext cx="507492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Shape 21"/>
          <p:cNvSpPr/>
          <p:nvPr/>
        </p:nvSpPr>
        <p:spPr>
          <a:xfrm>
            <a:off x="841248" y="5532120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365" y="5646237"/>
            <a:ext cx="247254" cy="24725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517904" y="5413248"/>
            <a:ext cx="3959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SSE streaming with Edge TTS</a:t>
            </a:r>
            <a:endParaRPr lang="en-US" sz="1250" dirty="0"/>
          </a:p>
        </p:txBody>
      </p:sp>
      <p:pic>
        <p:nvPicPr>
          <p:cNvPr id="32" name="Image 6" descr="shots/cha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2413" y="2097990"/>
            <a:ext cx="6096811" cy="32249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Text 24"/>
          <p:cNvSpPr/>
          <p:nvPr/>
        </p:nvSpPr>
        <p:spPr>
          <a:xfrm>
            <a:off x="6592824" y="5532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chat with live level switching (A1–B2)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10180015" y="6291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02336"/>
            <a:ext cx="1737360" cy="464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74980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Voice Agent Pipeline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40080" y="1828800"/>
            <a:ext cx="507492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9"/>
          <p:cNvSpPr/>
          <p:nvPr/>
        </p:nvSpPr>
        <p:spPr>
          <a:xfrm>
            <a:off x="841248" y="1911096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65" y="2025213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17904" y="182880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Nova-3 streaming STT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2596896"/>
            <a:ext cx="507492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2"/>
          <p:cNvSpPr/>
          <p:nvPr/>
        </p:nvSpPr>
        <p:spPr>
          <a:xfrm>
            <a:off x="841248" y="2679192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65" y="2793309"/>
            <a:ext cx="247254" cy="247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17904" y="2596896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 Sonic-3 real-time TTS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3364992"/>
            <a:ext cx="507492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5"/>
          <p:cNvSpPr/>
          <p:nvPr/>
        </p:nvSpPr>
        <p:spPr>
          <a:xfrm>
            <a:off x="841248" y="3447288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65" y="3561405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17904" y="3364992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optimized (~1–2s round-trip)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40080" y="4133088"/>
            <a:ext cx="507492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4" name="Shape 18"/>
          <p:cNvSpPr/>
          <p:nvPr/>
        </p:nvSpPr>
        <p:spPr>
          <a:xfrm>
            <a:off x="841248" y="4215384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365" y="4329501"/>
            <a:ext cx="247254" cy="24725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17904" y="4133088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tutor talk via qwen3.6-35b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6117336" y="1773936"/>
            <a:ext cx="5321808" cy="2866711"/>
          </a:xfrm>
          <a:prstGeom prst="roundRect">
            <a:avLst>
              <a:gd name="adj" fmla="val 3190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28" name="Image 5" descr="shots/ca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1828800"/>
            <a:ext cx="5212080" cy="275698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172200" y="4663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Live-Anruf: continuous voice-only conversation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640080" y="5074920"/>
            <a:ext cx="10911535" cy="603504"/>
          </a:xfrm>
          <a:prstGeom prst="roundRect">
            <a:avLst>
              <a:gd name="adj" fmla="val 15152"/>
            </a:avLst>
          </a:prstGeom>
          <a:solidFill>
            <a:srgbClr val="2B2B2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Text 23"/>
          <p:cNvSpPr/>
          <p:nvPr/>
        </p:nvSpPr>
        <p:spPr>
          <a:xfrm>
            <a:off x="960120" y="507492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1828800" y="5074920"/>
            <a:ext cx="16610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WebRTC</a:t>
            </a:r>
            <a:endParaRPr lang="en-US" sz="115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2467" y="5294376"/>
            <a:ext cx="164592" cy="16459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718499" y="5074920"/>
            <a:ext cx="16610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</a:t>
            </a:r>
            <a:endParaRPr lang="en-US" sz="115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2166" y="5294376"/>
            <a:ext cx="164592" cy="16459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608198" y="5074920"/>
            <a:ext cx="16610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Nova-3</a:t>
            </a:r>
            <a:endParaRPr lang="en-US" sz="115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1865" y="5294376"/>
            <a:ext cx="164592" cy="16459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497897" y="5074920"/>
            <a:ext cx="16610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Qwen3.6-35b</a:t>
            </a:r>
            <a:endParaRPr lang="en-US" sz="115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1564" y="5294376"/>
            <a:ext cx="164592" cy="16459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9387596" y="5074920"/>
            <a:ext cx="16610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 Sonic-3</a:t>
            </a:r>
            <a:endParaRPr lang="en-US" sz="1150" dirty="0"/>
          </a:p>
        </p:txBody>
      </p:sp>
      <p:sp>
        <p:nvSpPr>
          <p:cNvPr id="41" name="Text 29"/>
          <p:cNvSpPr/>
          <p:nvPr/>
        </p:nvSpPr>
        <p:spPr>
          <a:xfrm>
            <a:off x="10180015" y="6291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02336"/>
            <a:ext cx="1737360" cy="464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74980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Pronunciation Feedback Pipeline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2522144" cy="82296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Shape 9"/>
          <p:cNvSpPr/>
          <p:nvPr/>
        </p:nvSpPr>
        <p:spPr>
          <a:xfrm>
            <a:off x="804672" y="1965960"/>
            <a:ext cx="402336" cy="402336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07568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16736" y="1783080"/>
            <a:ext cx="166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&lt; 10s for 1-min+ audio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36544" y="1783080"/>
            <a:ext cx="2522144" cy="82296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Shape 12"/>
          <p:cNvSpPr/>
          <p:nvPr/>
        </p:nvSpPr>
        <p:spPr>
          <a:xfrm>
            <a:off x="3601136" y="1965960"/>
            <a:ext cx="402336" cy="402336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0864" y="2075688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113200" y="1783080"/>
            <a:ext cx="166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user-friendly interface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33008" y="1783080"/>
            <a:ext cx="2522144" cy="82296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Shape 15"/>
          <p:cNvSpPr/>
          <p:nvPr/>
        </p:nvSpPr>
        <p:spPr>
          <a:xfrm>
            <a:off x="6397600" y="1965960"/>
            <a:ext cx="402336" cy="402336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328" y="2075688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9664" y="1783080"/>
            <a:ext cx="166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upload &amp; live transcription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9029471" y="1783080"/>
            <a:ext cx="2522144" cy="82296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hape 18"/>
          <p:cNvSpPr/>
          <p:nvPr/>
        </p:nvSpPr>
        <p:spPr>
          <a:xfrm>
            <a:off x="9194063" y="1965960"/>
            <a:ext cx="402336" cy="402336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3791" y="2075688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706127" y="1783080"/>
            <a:ext cx="166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mechanism for feedback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85216" y="2871216"/>
            <a:ext cx="5596128" cy="3011815"/>
          </a:xfrm>
          <a:prstGeom prst="roundRect">
            <a:avLst>
              <a:gd name="adj" fmla="val 3036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28" name="Image 5" descr="shots/uploa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2926080"/>
            <a:ext cx="5486400" cy="2902087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574536" y="2871216"/>
            <a:ext cx="5596128" cy="3011815"/>
          </a:xfrm>
          <a:prstGeom prst="roundRect">
            <a:avLst>
              <a:gd name="adj" fmla="val 3036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30" name="Image 6" descr="shots/feedba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2926080"/>
            <a:ext cx="5486400" cy="290208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0080" y="5937895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record audio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6629400" y="5937895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transcript &amp; targeted tips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10180015" y="6291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17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02336"/>
            <a:ext cx="1737360" cy="464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74980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Evaluation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40080" y="1828800"/>
            <a:ext cx="10911535" cy="1508760"/>
          </a:xfrm>
          <a:prstGeom prst="roundRect">
            <a:avLst>
              <a:gd name="adj" fmla="val 5455"/>
            </a:avLst>
          </a:prstGeom>
          <a:solidFill>
            <a:srgbClr val="FEF4E4"/>
          </a:solidFill>
          <a:ln w="12700">
            <a:solidFill>
              <a:srgbClr val="F1D9A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9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240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2048256"/>
            <a:ext cx="9082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CEFR-Level Evaluation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783080" y="2414016"/>
            <a:ext cx="8808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responses checked against CEFR word list.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by two LLM judges.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611880"/>
            <a:ext cx="10911535" cy="1508760"/>
          </a:xfrm>
          <a:prstGeom prst="roundRect">
            <a:avLst>
              <a:gd name="adj" fmla="val 5455"/>
            </a:avLst>
          </a:prstGeom>
          <a:solidFill>
            <a:srgbClr val="FEF4E4"/>
          </a:solidFill>
          <a:ln w="12700">
            <a:solidFill>
              <a:srgbClr val="F1D9A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3"/>
          <p:cNvSpPr/>
          <p:nvPr/>
        </p:nvSpPr>
        <p:spPr>
          <a:xfrm>
            <a:off x="960120" y="3886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0233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3831336"/>
            <a:ext cx="9082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Feedback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783080" y="4197096"/>
            <a:ext cx="8808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learners test Deutsch Buddy directly.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rate clarity, tone, and usefulness.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0180015" y="6291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17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02336"/>
            <a:ext cx="1737360" cy="464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74980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Compare to Other Models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40080" y="14813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80 prompts — accuracy and response time.</a:t>
            </a:r>
            <a:endParaRPr lang="en-US" sz="14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40080" y="1783080"/>
          <a:ext cx="67208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7635240" y="1783080"/>
            <a:ext cx="3913632" cy="2468880"/>
          </a:xfrm>
          <a:prstGeom prst="roundRect">
            <a:avLst>
              <a:gd name="adj" fmla="val 3704"/>
            </a:avLst>
          </a:prstGeom>
          <a:solidFill>
            <a:srgbClr val="F7F8FA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Text 10"/>
          <p:cNvSpPr/>
          <p:nvPr/>
        </p:nvSpPr>
        <p:spPr>
          <a:xfrm>
            <a:off x="7872984" y="1965960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872984" y="2286000"/>
            <a:ext cx="3438144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2"/>
          <p:cNvSpPr/>
          <p:nvPr/>
        </p:nvSpPr>
        <p:spPr>
          <a:xfrm>
            <a:off x="7872984" y="2404871"/>
            <a:ext cx="3438144" cy="183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 wins decisively
on speed.
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12x faster than Gemma
— 0.66s vs 7.91s avg.
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dips slightly at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A1/A2, but B1/B2 stay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every model.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LATENCY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4800600"/>
            <a:ext cx="3484778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EF7D00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9" name="Text 15"/>
          <p:cNvSpPr/>
          <p:nvPr/>
        </p:nvSpPr>
        <p:spPr>
          <a:xfrm>
            <a:off x="640080" y="4946904"/>
            <a:ext cx="34847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qwen3.6-35b-a3b (ours)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0080" y="5184648"/>
            <a:ext cx="3484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7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0.66s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777240" y="5788152"/>
            <a:ext cx="32104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0.43s · max 1.09s</a:t>
            </a:r>
            <a:endParaRPr lang="en-US" sz="87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real calls, 52.9s total</a:t>
            </a:r>
            <a:endParaRPr lang="en-US" sz="870" dirty="0"/>
          </a:p>
        </p:txBody>
      </p:sp>
      <p:sp>
        <p:nvSpPr>
          <p:cNvPr id="22" name="Shape 18"/>
          <p:cNvSpPr/>
          <p:nvPr/>
        </p:nvSpPr>
        <p:spPr>
          <a:xfrm>
            <a:off x="4353458" y="4800600"/>
            <a:ext cx="3484778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5875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Text 19"/>
          <p:cNvSpPr/>
          <p:nvPr/>
        </p:nvSpPr>
        <p:spPr>
          <a:xfrm>
            <a:off x="4353458" y="4946904"/>
            <a:ext cx="34847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gemma4-31b-it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353458" y="5184648"/>
            <a:ext cx="3484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7.91s</a:t>
            </a:r>
            <a:endParaRPr lang="en-US" sz="3200" dirty="0"/>
          </a:p>
        </p:txBody>
      </p:sp>
      <p:sp>
        <p:nvSpPr>
          <p:cNvPr id="25" name="Text 21"/>
          <p:cNvSpPr/>
          <p:nvPr/>
        </p:nvSpPr>
        <p:spPr>
          <a:xfrm>
            <a:off x="4490618" y="5788152"/>
            <a:ext cx="32104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2.16s · max 27.30s</a:t>
            </a:r>
            <a:endParaRPr lang="en-US" sz="87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real calls, 632.8s total</a:t>
            </a:r>
            <a:endParaRPr lang="en-US" sz="870" dirty="0"/>
          </a:p>
        </p:txBody>
      </p:sp>
      <p:sp>
        <p:nvSpPr>
          <p:cNvPr id="30" name="Text 26"/>
          <p:cNvSpPr/>
          <p:nvPr/>
        </p:nvSpPr>
        <p:spPr>
          <a:xfrm>
            <a:off x="10180015" y="6291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17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02336"/>
            <a:ext cx="1737360" cy="464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74980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 Along the Way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40080" y="1828800"/>
            <a:ext cx="5272888" cy="143560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9"/>
          <p:cNvSpPr/>
          <p:nvPr/>
        </p:nvSpPr>
        <p:spPr>
          <a:xfrm>
            <a:off x="859536" y="2048256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16712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9536" y="2606040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felt slow at first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59536" y="288036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LiveKit streaming pipeline.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78728" y="1828800"/>
            <a:ext cx="5272887" cy="143560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3"/>
          <p:cNvSpPr/>
          <p:nvPr/>
        </p:nvSpPr>
        <p:spPr>
          <a:xfrm>
            <a:off x="6498184" y="2048256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056" y="216712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8184" y="2606040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ignored the level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98184" y="288036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live CEFR stem lists.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063475" y="3429000"/>
            <a:ext cx="5272888" cy="13258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Shape 17"/>
          <p:cNvSpPr/>
          <p:nvPr/>
        </p:nvSpPr>
        <p:spPr>
          <a:xfrm>
            <a:off x="3520675" y="3602736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547" y="372160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520675" y="4160520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inflection is tricky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3520675" y="443484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to direct word matching.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40080" y="4892040"/>
            <a:ext cx="10911535" cy="685800"/>
          </a:xfrm>
          <a:prstGeom prst="roundRect">
            <a:avLst>
              <a:gd name="adj" fmla="val 12000"/>
            </a:avLst>
          </a:prstGeom>
          <a:solidFill>
            <a:srgbClr val="FEF4E4"/>
          </a:solidFill>
          <a:ln w="12700">
            <a:solidFill>
              <a:srgbClr val="F1D9A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2" name="Shape 25"/>
          <p:cNvSpPr/>
          <p:nvPr/>
        </p:nvSpPr>
        <p:spPr>
          <a:xfrm>
            <a:off x="859536" y="50063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5116068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545336" y="4983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coverage has real gaps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1545336" y="5276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80 replies had no matches.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7345375" y="48920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while auditing our own results.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10180015" y="6291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17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02336"/>
            <a:ext cx="1737360" cy="464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7498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186537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17099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 Akbar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325880" y="20208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Voice, Voice Chat &amp; Deployment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2514600"/>
            <a:ext cx="482803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2"/>
          <p:cNvSpPr/>
          <p:nvPr/>
        </p:nvSpPr>
        <p:spPr>
          <a:xfrm>
            <a:off x="841248" y="2606040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65" y="2720157"/>
            <a:ext cx="247254" cy="247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17904" y="2514600"/>
            <a:ext cx="3712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Voice Call — Live-Anruf pipeline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319272"/>
            <a:ext cx="482803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5"/>
          <p:cNvSpPr/>
          <p:nvPr/>
        </p:nvSpPr>
        <p:spPr>
          <a:xfrm>
            <a:off x="841248" y="3410712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65" y="3524829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17904" y="3319272"/>
            <a:ext cx="3712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Chat — Sprechen mode + transcription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40080" y="4123944"/>
            <a:ext cx="482803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4" name="Shape 18"/>
          <p:cNvSpPr/>
          <p:nvPr/>
        </p:nvSpPr>
        <p:spPr>
          <a:xfrm>
            <a:off x="841248" y="4215384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365" y="4329501"/>
            <a:ext cx="247254" cy="24725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17904" y="4123944"/>
            <a:ext cx="3712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production build &amp; infra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309360" y="1737360"/>
            <a:ext cx="502920" cy="502920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1865376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95160" y="17099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Mustafa Khalid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6995160" y="20208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Chat, Feedback &amp; Testing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6309360" y="2514600"/>
            <a:ext cx="482803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2" name="Shape 24"/>
          <p:cNvSpPr/>
          <p:nvPr/>
        </p:nvSpPr>
        <p:spPr>
          <a:xfrm>
            <a:off x="6510528" y="2606040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4645" y="2720157"/>
            <a:ext cx="247254" cy="24725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87184" y="2514600"/>
            <a:ext cx="3712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Chat — CEFR-adaptive streaming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6309360" y="3319272"/>
            <a:ext cx="482803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6" name="Shape 27"/>
          <p:cNvSpPr/>
          <p:nvPr/>
        </p:nvSpPr>
        <p:spPr>
          <a:xfrm>
            <a:off x="6510528" y="3410712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4645" y="3524829"/>
            <a:ext cx="247254" cy="24725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187184" y="3319272"/>
            <a:ext cx="3712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 Feedback — scoring &amp; tips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6309360" y="4123944"/>
            <a:ext cx="482803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0" name="Shape 30"/>
          <p:cNvSpPr/>
          <p:nvPr/>
        </p:nvSpPr>
        <p:spPr>
          <a:xfrm>
            <a:off x="6510528" y="4215384"/>
            <a:ext cx="475488" cy="475488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4645" y="4329501"/>
            <a:ext cx="247254" cy="247254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7187184" y="4123944"/>
            <a:ext cx="3712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CEFR accuracy &amp; user feedback</a:t>
            </a:r>
            <a:endParaRPr lang="en-US" sz="1200" dirty="0"/>
          </a:p>
        </p:txBody>
      </p:sp>
      <p:sp>
        <p:nvSpPr>
          <p:cNvPr id="43" name="Text 32"/>
          <p:cNvSpPr/>
          <p:nvPr/>
        </p:nvSpPr>
        <p:spPr>
          <a:xfrm>
            <a:off x="10180015" y="6291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17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02336"/>
            <a:ext cx="1737360" cy="464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74980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See It In Action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40080" y="1874520"/>
            <a:ext cx="342381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9"/>
          <p:cNvSpPr/>
          <p:nvPr/>
        </p:nvSpPr>
        <p:spPr>
          <a:xfrm>
            <a:off x="2077669" y="2103120"/>
            <a:ext cx="548640" cy="548640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829" y="2240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" y="278892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Chat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77240" y="3044952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CEFR-level replies, streamed live.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383938" y="1874520"/>
            <a:ext cx="342381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3"/>
          <p:cNvSpPr/>
          <p:nvPr/>
        </p:nvSpPr>
        <p:spPr>
          <a:xfrm>
            <a:off x="5821528" y="2103120"/>
            <a:ext cx="548640" cy="548640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688" y="22402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21098" y="278892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Live-Anruf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521098" y="3044952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spoken conversation.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127797" y="1874520"/>
            <a:ext cx="342381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Shape 17"/>
          <p:cNvSpPr/>
          <p:nvPr/>
        </p:nvSpPr>
        <p:spPr>
          <a:xfrm>
            <a:off x="9565386" y="2103120"/>
            <a:ext cx="548640" cy="548640"/>
          </a:xfrm>
          <a:prstGeom prst="ellipse">
            <a:avLst/>
          </a:prstGeom>
          <a:solidFill>
            <a:srgbClr val="FFF3E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2546" y="224028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64957" y="278892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 Feedback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8264957" y="3044952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tips after every recording.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40080" y="3703320"/>
            <a:ext cx="10911535" cy="1280160"/>
          </a:xfrm>
          <a:prstGeom prst="roundRect">
            <a:avLst>
              <a:gd name="adj" fmla="val 7143"/>
            </a:avLst>
          </a:prstGeom>
          <a:solidFill>
            <a:srgbClr val="2B2B2B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7" name="Image 4" descr="preencoded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416052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3703320"/>
            <a:ext cx="96313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the live application now.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10180015" y="6291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17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88833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D0000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02336"/>
            <a:ext cx="1737360" cy="464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359152"/>
            <a:ext cx="822960" cy="0"/>
          </a:xfrm>
          <a:prstGeom prst="line">
            <a:avLst/>
          </a:prstGeom>
          <a:noFill/>
          <a:ln w="31750">
            <a:solidFill>
              <a:srgbClr val="EF7D0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640080" y="2487168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Danke.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640080" y="34564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F7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924048"/>
            <a:ext cx="836673" cy="8366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21815" y="5136644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   </a:t>
            </a:r>
            <a:r>
              <a:rPr lang="en-US" sz="2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Akbar</a:t>
            </a: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&amp;   </a:t>
            </a:r>
            <a:r>
              <a:rPr lang="en-US" sz="2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Khalid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10180015" y="6291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724</Words>
  <Application>Microsoft Macintosh PowerPoint</Application>
  <PresentationFormat>Widescreen</PresentationFormat>
  <Paragraphs>211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Assistant Deutsche Sprache</dc:title>
  <dc:subject>PptxGenJS Presentation</dc:subject>
  <dc:creator>Ali Akbar &amp; Mustafa Khalid</dc:creator>
  <cp:lastModifiedBy>Mustafa Khalid</cp:lastModifiedBy>
  <cp:revision>39</cp:revision>
  <dcterms:created xsi:type="dcterms:W3CDTF">2026-07-12T05:05:39Z</dcterms:created>
  <dcterms:modified xsi:type="dcterms:W3CDTF">2026-07-16T11:51:35Z</dcterms:modified>
</cp:coreProperties>
</file>